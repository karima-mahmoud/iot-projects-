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594" r:id="rId2"/>
    <p:sldId id="1105" r:id="rId3"/>
    <p:sldId id="1071" r:id="rId4"/>
    <p:sldId id="1106" r:id="rId5"/>
    <p:sldId id="1107" r:id="rId6"/>
    <p:sldId id="1108" r:id="rId7"/>
    <p:sldId id="1109" r:id="rId8"/>
    <p:sldId id="1110" r:id="rId9"/>
    <p:sldId id="1111" r:id="rId10"/>
    <p:sldId id="1080" r:id="rId11"/>
    <p:sldId id="624" r:id="rId12"/>
    <p:sldId id="732" r:id="rId13"/>
    <p:sldId id="1075" r:id="rId14"/>
    <p:sldId id="1076" r:id="rId15"/>
    <p:sldId id="1077" r:id="rId16"/>
    <p:sldId id="1078" r:id="rId17"/>
    <p:sldId id="658" r:id="rId18"/>
    <p:sldId id="1083" r:id="rId19"/>
    <p:sldId id="722" r:id="rId20"/>
    <p:sldId id="723" r:id="rId21"/>
    <p:sldId id="724" r:id="rId22"/>
    <p:sldId id="725" r:id="rId23"/>
    <p:sldId id="726" r:id="rId24"/>
    <p:sldId id="727" r:id="rId25"/>
    <p:sldId id="682" r:id="rId26"/>
    <p:sldId id="738" r:id="rId27"/>
    <p:sldId id="1084" r:id="rId28"/>
    <p:sldId id="1088" r:id="rId29"/>
    <p:sldId id="1097" r:id="rId30"/>
    <p:sldId id="1090" r:id="rId31"/>
    <p:sldId id="1081" r:id="rId32"/>
    <p:sldId id="1082" r:id="rId33"/>
    <p:sldId id="1085" r:id="rId34"/>
    <p:sldId id="1089" r:id="rId35"/>
    <p:sldId id="1091" r:id="rId36"/>
    <p:sldId id="1087" r:id="rId37"/>
    <p:sldId id="1086" r:id="rId38"/>
    <p:sldId id="1092" r:id="rId39"/>
    <p:sldId id="1095" r:id="rId40"/>
    <p:sldId id="1096" r:id="rId41"/>
    <p:sldId id="1093" r:id="rId42"/>
    <p:sldId id="1094" r:id="rId43"/>
    <p:sldId id="8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62626"/>
    <a:srgbClr val="C41949"/>
    <a:srgbClr val="F4F6F5"/>
    <a:srgbClr val="FFBDBD"/>
    <a:srgbClr val="EC008D"/>
    <a:srgbClr val="F4F6F7"/>
    <a:srgbClr val="1E1250"/>
    <a:srgbClr val="477BC7"/>
    <a:srgbClr val="215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5332" autoAdjust="0"/>
  </p:normalViewPr>
  <p:slideViewPr>
    <p:cSldViewPr snapToGrid="0">
      <p:cViewPr varScale="1">
        <p:scale>
          <a:sx n="79" d="100"/>
          <a:sy n="79" d="100"/>
        </p:scale>
        <p:origin x="859" y="77"/>
      </p:cViewPr>
      <p:guideLst/>
    </p:cSldViewPr>
  </p:slideViewPr>
  <p:outlineViewPr>
    <p:cViewPr>
      <p:scale>
        <a:sx n="33" d="100"/>
        <a:sy n="33" d="100"/>
      </p:scale>
      <p:origin x="0" y="-2395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56BDA-A18B-49DB-8F26-8A827F3B5065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20B94-7C98-4144-BB7A-D0E7A4BA4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20B94-7C98-4144-BB7A-D0E7A4BA4F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5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20B94-7C98-4144-BB7A-D0E7A4BA4F2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20B94-7C98-4144-BB7A-D0E7A4BA4F2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1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7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3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4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6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6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1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6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5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6E7A5-A5EA-4673-86A3-6F58F995D500}" type="datetimeFigureOut">
              <a:rPr lang="en-US" smtClean="0"/>
              <a:t>2024-03-06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17F05-CE75-42D0-B3EF-2CC05435D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0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techtutorialsx.com/2017/12/02/esp32-esp8266-arduino-serial-communication-with-python/" TargetMode="External"/><Relationship Id="rId3" Type="http://schemas.openxmlformats.org/officeDocument/2006/relationships/hyperlink" Target="https://techatronic.com/interfacing-of-dht11-sensor-with-esp8266-nodemcu/" TargetMode="External"/><Relationship Id="rId7" Type="http://schemas.openxmlformats.org/officeDocument/2006/relationships/hyperlink" Target="https://pyserial.readthedocs.io/en/latest/" TargetMode="External"/><Relationship Id="rId2" Type="http://schemas.openxmlformats.org/officeDocument/2006/relationships/hyperlink" Target="https://www.electronicwings.com/nodemcu/dht11-sensor-interfacing-with-nodemcu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andomnerdtutorials.com/esp8266-dht11dht22-temperature-and-humidity-web-server-with-arduino-ide/" TargetMode="External"/><Relationship Id="rId11" Type="http://schemas.openxmlformats.org/officeDocument/2006/relationships/hyperlink" Target="https://www.simplilearn.com/tutorials/python-tutorial/speech-recognition-in-python" TargetMode="External"/><Relationship Id="rId5" Type="http://schemas.openxmlformats.org/officeDocument/2006/relationships/hyperlink" Target="https://lastminuteengineers.com/esp8266-dht11-dht22-web-server-tutorial/" TargetMode="External"/><Relationship Id="rId10" Type="http://schemas.openxmlformats.org/officeDocument/2006/relationships/hyperlink" Target="https://realpython.com/python-speech-recognition/" TargetMode="External"/><Relationship Id="rId4" Type="http://schemas.openxmlformats.org/officeDocument/2006/relationships/hyperlink" Target="https://roboindia.com/tutorials/dht11-nodemcu-arduino/" TargetMode="External"/><Relationship Id="rId9" Type="http://schemas.openxmlformats.org/officeDocument/2006/relationships/hyperlink" Target="https://roboticsbackend.com/raspberry-pi-arduino-serial-communic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686550" y="0"/>
            <a:ext cx="5505450" cy="6858000"/>
          </a:xfrm>
          <a:prstGeom prst="rect">
            <a:avLst/>
          </a:prstGeom>
          <a:solidFill>
            <a:srgbClr val="1E1250"/>
          </a:solidFill>
          <a:ln>
            <a:solidFill>
              <a:srgbClr val="1E1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 t="1631" r="17170" b="1027"/>
          <a:stretch/>
        </p:blipFill>
        <p:spPr>
          <a:xfrm>
            <a:off x="6748462" y="1123950"/>
            <a:ext cx="5381625" cy="459105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47629" y="2276789"/>
            <a:ext cx="5861294" cy="2304422"/>
            <a:chOff x="547629" y="2009414"/>
            <a:chExt cx="5861294" cy="2304422"/>
          </a:xfrm>
        </p:grpSpPr>
        <p:grpSp>
          <p:nvGrpSpPr>
            <p:cNvPr id="3" name="Group 2"/>
            <p:cNvGrpSpPr/>
            <p:nvPr/>
          </p:nvGrpSpPr>
          <p:grpSpPr>
            <a:xfrm>
              <a:off x="547629" y="2009414"/>
              <a:ext cx="5861294" cy="2304422"/>
              <a:chOff x="547629" y="2406575"/>
              <a:chExt cx="5861294" cy="2304422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547629" y="2406575"/>
                <a:ext cx="5861294" cy="846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900" dirty="0">
                    <a:solidFill>
                      <a:srgbClr val="21558D"/>
                    </a:solidFill>
                    <a:latin typeface="Arial Rounded MT Bold" panose="020F0704030504030204" pitchFamily="34" charset="0"/>
                    <a:cs typeface="Times New Roman" panose="02020603050405020304" pitchFamily="18" charset="0"/>
                  </a:rPr>
                  <a:t>Internet of Things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7629" y="4249332"/>
                <a:ext cx="517891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Times New Roman" panose="02020603050405020304" pitchFamily="18" charset="0"/>
                  </a:rPr>
                  <a:t>IoT Team, BFCAI</a:t>
                </a: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547629" y="2773144"/>
              <a:ext cx="5456543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it-IT" sz="3350" dirty="0">
                  <a:solidFill>
                    <a:schemeClr val="bg2">
                      <a:lumMod val="25000"/>
                    </a:schemeClr>
                  </a:solidFill>
                  <a:latin typeface="Arial Rounded MT Bold" panose="020F0704030504030204" pitchFamily="34" charset="0"/>
                  <a:cs typeface="Times New Roman" panose="02020603050405020304" pitchFamily="18" charset="0"/>
                </a:rPr>
                <a:t>Python   &amp;   NodeMCU</a:t>
              </a:r>
            </a:p>
            <a:p>
              <a:pPr algn="just"/>
              <a:r>
                <a:rPr lang="it-IT" sz="3300" dirty="0">
                  <a:solidFill>
                    <a:schemeClr val="bg2">
                      <a:lumMod val="25000"/>
                    </a:schemeClr>
                  </a:solidFill>
                  <a:latin typeface="Arial Rounded MT Bold" panose="020F0704030504030204" pitchFamily="34" charset="0"/>
                  <a:cs typeface="Times New Roman" panose="02020603050405020304" pitchFamily="18" charset="0"/>
                </a:rPr>
                <a:t>Serial Communication</a:t>
              </a:r>
              <a:endParaRPr lang="en-US" sz="33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686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Data Transmission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1022" y="1007526"/>
            <a:ext cx="10517342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systems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most basic form have a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 device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one end and a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receiving device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other.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1B6AA2-1483-9D0F-4052-57D08676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82" y="3429000"/>
            <a:ext cx="9335309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Wired vs. Wireless Communication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40A94-5903-C029-2296-F774642753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743" b="26783"/>
          <a:stretch/>
        </p:blipFill>
        <p:spPr>
          <a:xfrm>
            <a:off x="891461" y="1429561"/>
            <a:ext cx="10409077" cy="46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9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Parallel Communication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99" y="1629210"/>
            <a:ext cx="6706244" cy="49747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1022" y="1007526"/>
            <a:ext cx="10517342" cy="57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communication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bits are sent at the same time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587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Serial Communication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46" y="3226380"/>
            <a:ext cx="10058400" cy="21800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1022" y="1007526"/>
            <a:ext cx="10517342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 is simply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way to transfer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will be sent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bit at a 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15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UART Protocol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1022" y="1007526"/>
            <a:ext cx="10517342" cy="4517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means “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Asynchronous Receiver Transmitter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represents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circuitry (module)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used for the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is sold/shipped as a standalone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circuit (IC)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as an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module within microcontrollers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 protocol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 between 2 boards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you’re using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 protocol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8317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UART Protocol: Baud Rate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1022" y="1007526"/>
            <a:ext cx="10517342" cy="524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fast the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sent over the bus and it is specified in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bits-per-second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actually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any speed for the baud rate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there are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values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known as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standards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common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widely-used standardized value is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9600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ctr">
              <a:lnSpc>
                <a:spcPct val="130000"/>
              </a:lnSpc>
            </a:pPr>
            <a:r>
              <a:rPr lang="en-US" sz="26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26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6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26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6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26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6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serial port context, “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9600 baud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means that the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port is capable of transferring a maximum of 9600 bits per second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standard baud rates include: 1200, 2400, 4800, 19200, 38400, 57600 and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115200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489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UART Protocol: Transmitter and Receiver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ACD6CD-C937-FF81-7E3B-19FC6ECB0C75}"/>
              </a:ext>
            </a:extLst>
          </p:cNvPr>
          <p:cNvGrpSpPr/>
          <p:nvPr/>
        </p:nvGrpSpPr>
        <p:grpSpPr>
          <a:xfrm>
            <a:off x="870493" y="2304493"/>
            <a:ext cx="10441488" cy="4239068"/>
            <a:chOff x="875256" y="1455409"/>
            <a:chExt cx="10441488" cy="423906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994E6C-A90F-18FF-1DA5-B60351A873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9542" b="9072"/>
            <a:stretch/>
          </p:blipFill>
          <p:spPr>
            <a:xfrm>
              <a:off x="875256" y="2042161"/>
              <a:ext cx="10441488" cy="36523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3FB19D-127C-A4AB-13DD-4319215D323B}"/>
                </a:ext>
              </a:extLst>
            </p:cNvPr>
            <p:cNvSpPr txBox="1"/>
            <p:nvPr/>
          </p:nvSpPr>
          <p:spPr>
            <a:xfrm>
              <a:off x="2218354" y="1461522"/>
              <a:ext cx="151389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b="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</a:rPr>
                <a:t>UART1</a:t>
              </a:r>
              <a:endParaRPr lang="en-US" sz="3000" dirty="0">
                <a:solidFill>
                  <a:srgbClr val="C0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AB6EB6-1FDF-82B9-6B18-AB7553A66069}"/>
                </a:ext>
              </a:extLst>
            </p:cNvPr>
            <p:cNvSpPr txBox="1"/>
            <p:nvPr/>
          </p:nvSpPr>
          <p:spPr>
            <a:xfrm>
              <a:off x="8696909" y="1455409"/>
              <a:ext cx="151389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b="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</a:rPr>
                <a:t>UART2</a:t>
              </a:r>
              <a:endParaRPr lang="en-US" sz="3000" dirty="0">
                <a:solidFill>
                  <a:srgbClr val="C00000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9FCB9-B276-0A35-2027-C2C33B3D49D6}"/>
              </a:ext>
            </a:extLst>
          </p:cNvPr>
          <p:cNvSpPr/>
          <p:nvPr/>
        </p:nvSpPr>
        <p:spPr>
          <a:xfrm>
            <a:off x="751022" y="1007526"/>
            <a:ext cx="10517342" cy="1080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device A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 to transmit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device B, it will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data via its transmitter’s pin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device B receiver will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 the sent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58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UART Protocol: Transmitter and Receiver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ACD6CD-C937-FF81-7E3B-19FC6ECB0C75}"/>
              </a:ext>
            </a:extLst>
          </p:cNvPr>
          <p:cNvGrpSpPr/>
          <p:nvPr/>
        </p:nvGrpSpPr>
        <p:grpSpPr>
          <a:xfrm>
            <a:off x="870493" y="2304493"/>
            <a:ext cx="10441488" cy="4239068"/>
            <a:chOff x="875256" y="1455409"/>
            <a:chExt cx="10441488" cy="423906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994E6C-A90F-18FF-1DA5-B60351A873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9542" b="9072"/>
            <a:stretch/>
          </p:blipFill>
          <p:spPr>
            <a:xfrm>
              <a:off x="875256" y="2042161"/>
              <a:ext cx="10441488" cy="36523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3FB19D-127C-A4AB-13DD-4319215D323B}"/>
                </a:ext>
              </a:extLst>
            </p:cNvPr>
            <p:cNvSpPr txBox="1"/>
            <p:nvPr/>
          </p:nvSpPr>
          <p:spPr>
            <a:xfrm>
              <a:off x="2218354" y="1461522"/>
              <a:ext cx="151389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b="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</a:rPr>
                <a:t>UART1</a:t>
              </a:r>
              <a:endParaRPr lang="en-US" sz="3000" dirty="0">
                <a:solidFill>
                  <a:srgbClr val="C0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AB6EB6-1FDF-82B9-6B18-AB7553A66069}"/>
                </a:ext>
              </a:extLst>
            </p:cNvPr>
            <p:cNvSpPr txBox="1"/>
            <p:nvPr/>
          </p:nvSpPr>
          <p:spPr>
            <a:xfrm>
              <a:off x="8696909" y="1455409"/>
              <a:ext cx="151389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b="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</a:rPr>
                <a:t>UART2</a:t>
              </a:r>
              <a:endParaRPr lang="en-US" sz="3000" dirty="0">
                <a:solidFill>
                  <a:srgbClr val="C00000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9FCB9-B276-0A35-2027-C2C33B3D49D6}"/>
              </a:ext>
            </a:extLst>
          </p:cNvPr>
          <p:cNvSpPr/>
          <p:nvPr/>
        </p:nvSpPr>
        <p:spPr>
          <a:xfrm>
            <a:off x="751022" y="1007526"/>
            <a:ext cx="10517342" cy="1080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UART communication, both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agree on the exact same baud rate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successful data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49909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UART Protocol: Data Packet</a:t>
            </a:r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44269BC-6FE8-8FFC-9E3F-0EFB5837E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71348"/>
              </p:ext>
            </p:extLst>
          </p:nvPr>
        </p:nvGraphicFramePr>
        <p:xfrm>
          <a:off x="842767" y="5198364"/>
          <a:ext cx="10496940" cy="763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290">
                  <a:extLst>
                    <a:ext uri="{9D8B030D-6E8A-4147-A177-3AD203B41FA5}">
                      <a16:colId xmlns:a16="http://schemas.microsoft.com/office/drawing/2014/main" val="405464086"/>
                    </a:ext>
                  </a:extLst>
                </a:gridCol>
                <a:gridCol w="6260841">
                  <a:extLst>
                    <a:ext uri="{9D8B030D-6E8A-4147-A177-3AD203B41FA5}">
                      <a16:colId xmlns:a16="http://schemas.microsoft.com/office/drawing/2014/main" val="1162869976"/>
                    </a:ext>
                  </a:extLst>
                </a:gridCol>
                <a:gridCol w="1427584">
                  <a:extLst>
                    <a:ext uri="{9D8B030D-6E8A-4147-A177-3AD203B41FA5}">
                      <a16:colId xmlns:a16="http://schemas.microsoft.com/office/drawing/2014/main" val="2978151062"/>
                    </a:ext>
                  </a:extLst>
                </a:gridCol>
                <a:gridCol w="1561225">
                  <a:extLst>
                    <a:ext uri="{9D8B030D-6E8A-4147-A177-3AD203B41FA5}">
                      <a16:colId xmlns:a16="http://schemas.microsoft.com/office/drawing/2014/main" val="1261673761"/>
                    </a:ext>
                  </a:extLst>
                </a:gridCol>
              </a:tblGrid>
              <a:tr h="7638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Start Bit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(1 Bit)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Data Bits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(5 to 9 Bits)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Parity Bit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(0 to 1 Bit)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Stop Bits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(1 to 2 Bits)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79511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278D272-CBF3-4114-9F98-7C80ECF8A2D2}"/>
              </a:ext>
            </a:extLst>
          </p:cNvPr>
          <p:cNvSpPr/>
          <p:nvPr/>
        </p:nvSpPr>
        <p:spPr>
          <a:xfrm>
            <a:off x="751022" y="1007526"/>
            <a:ext cx="10517342" cy="3681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being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transmitted/received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UART serial communication is organized into specific blocks called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packets usually start with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“start bit”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a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LOW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used to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the receiver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new coming packet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bits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data bits being transmitted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receiver.</a:t>
            </a: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Parity bit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receiver to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correctness of the received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bits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the end of the data packet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sent. </a:t>
            </a:r>
          </a:p>
        </p:txBody>
      </p:sp>
    </p:spTree>
    <p:extLst>
      <p:ext uri="{BB962C8B-B14F-4D97-AF65-F5344CB8AC3E}">
        <p14:creationId xmlns:p14="http://schemas.microsoft.com/office/powerpoint/2010/main" val="158919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Temperature and Humidity Sensor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022" y="1007526"/>
            <a:ext cx="10517342" cy="160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DHT11 sensor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serially over a single wire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sends a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40-bit data stream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both temperature and humidity.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9"/>
          <a:stretch/>
        </p:blipFill>
        <p:spPr>
          <a:xfrm>
            <a:off x="7125572" y="2636406"/>
            <a:ext cx="4142792" cy="3920800"/>
          </a:xfrm>
          <a:prstGeom prst="rect">
            <a:avLst/>
          </a:prstGeom>
        </p:spPr>
      </p:pic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8353594E-B287-19F8-D8EB-D0205BA35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51664"/>
              </p:ext>
            </p:extLst>
          </p:nvPr>
        </p:nvGraphicFramePr>
        <p:xfrm>
          <a:off x="1346717" y="2964859"/>
          <a:ext cx="3421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53">
                  <a:extLst>
                    <a:ext uri="{9D8B030D-6E8A-4147-A177-3AD203B41FA5}">
                      <a16:colId xmlns:a16="http://schemas.microsoft.com/office/drawing/2014/main" val="3558337527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9846402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422156766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57620407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33322490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65958057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62324163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3156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831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54AADD-9B38-C8F1-CB1A-B4ADC41A5E5A}"/>
              </a:ext>
            </a:extLst>
          </p:cNvPr>
          <p:cNvSpPr txBox="1"/>
          <p:nvPr/>
        </p:nvSpPr>
        <p:spPr>
          <a:xfrm>
            <a:off x="4823927" y="2966367"/>
            <a:ext cx="228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8-bit integral RH</a:t>
            </a: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E7FFED3B-B9D0-8BE5-6791-13E439B67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288604"/>
              </p:ext>
            </p:extLst>
          </p:nvPr>
        </p:nvGraphicFramePr>
        <p:xfrm>
          <a:off x="1346717" y="3663441"/>
          <a:ext cx="3421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53">
                  <a:extLst>
                    <a:ext uri="{9D8B030D-6E8A-4147-A177-3AD203B41FA5}">
                      <a16:colId xmlns:a16="http://schemas.microsoft.com/office/drawing/2014/main" val="3558337527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9846402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422156766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57620407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33322490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65958057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62324163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3156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831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21D536-1B07-B4B9-104F-52112445B195}"/>
              </a:ext>
            </a:extLst>
          </p:cNvPr>
          <p:cNvSpPr txBox="1"/>
          <p:nvPr/>
        </p:nvSpPr>
        <p:spPr>
          <a:xfrm>
            <a:off x="4823927" y="3664949"/>
            <a:ext cx="228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8-bit decimal RH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E7AF7221-6B23-6665-6245-2425D176A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15463"/>
              </p:ext>
            </p:extLst>
          </p:nvPr>
        </p:nvGraphicFramePr>
        <p:xfrm>
          <a:off x="1346717" y="4362023"/>
          <a:ext cx="3421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53">
                  <a:extLst>
                    <a:ext uri="{9D8B030D-6E8A-4147-A177-3AD203B41FA5}">
                      <a16:colId xmlns:a16="http://schemas.microsoft.com/office/drawing/2014/main" val="3558337527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9846402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422156766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57620407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33322490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65958057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62324163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3156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8315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218254E-4F00-E634-B81F-ACC8E385A5AB}"/>
              </a:ext>
            </a:extLst>
          </p:cNvPr>
          <p:cNvSpPr txBox="1"/>
          <p:nvPr/>
        </p:nvSpPr>
        <p:spPr>
          <a:xfrm>
            <a:off x="4823927" y="4363531"/>
            <a:ext cx="228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8-bit integral Temp</a:t>
            </a:r>
          </a:p>
        </p:txBody>
      </p:sp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9DC69CE0-0D3D-AF16-3933-6A0D88F46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38287"/>
              </p:ext>
            </p:extLst>
          </p:nvPr>
        </p:nvGraphicFramePr>
        <p:xfrm>
          <a:off x="1346717" y="5060605"/>
          <a:ext cx="3421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53">
                  <a:extLst>
                    <a:ext uri="{9D8B030D-6E8A-4147-A177-3AD203B41FA5}">
                      <a16:colId xmlns:a16="http://schemas.microsoft.com/office/drawing/2014/main" val="3558337527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9846402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422156766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57620407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33322490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65958057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62324163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3156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8315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B775460-8246-A691-7D45-1A72BF27AA1D}"/>
              </a:ext>
            </a:extLst>
          </p:cNvPr>
          <p:cNvSpPr txBox="1"/>
          <p:nvPr/>
        </p:nvSpPr>
        <p:spPr>
          <a:xfrm>
            <a:off x="4823927" y="5062113"/>
            <a:ext cx="228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8-bit decimal Temp</a:t>
            </a:r>
          </a:p>
        </p:txBody>
      </p:sp>
      <p:graphicFrame>
        <p:nvGraphicFramePr>
          <p:cNvPr id="18" name="Table 7">
            <a:extLst>
              <a:ext uri="{FF2B5EF4-FFF2-40B4-BE49-F238E27FC236}">
                <a16:creationId xmlns:a16="http://schemas.microsoft.com/office/drawing/2014/main" id="{EA8ECA19-436E-A452-FC20-781C2FDA8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40593"/>
              </p:ext>
            </p:extLst>
          </p:nvPr>
        </p:nvGraphicFramePr>
        <p:xfrm>
          <a:off x="1346717" y="5755665"/>
          <a:ext cx="3421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53">
                  <a:extLst>
                    <a:ext uri="{9D8B030D-6E8A-4147-A177-3AD203B41FA5}">
                      <a16:colId xmlns:a16="http://schemas.microsoft.com/office/drawing/2014/main" val="3558337527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9846402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422156766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57620407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33322490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2659580574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623241639"/>
                    </a:ext>
                  </a:extLst>
                </a:gridCol>
                <a:gridCol w="427653">
                  <a:extLst>
                    <a:ext uri="{9D8B030D-6E8A-4147-A177-3AD203B41FA5}">
                      <a16:colId xmlns:a16="http://schemas.microsoft.com/office/drawing/2014/main" val="123156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8315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FF5B1F4-50D3-54DB-C68B-7300C69B5DAF}"/>
              </a:ext>
            </a:extLst>
          </p:cNvPr>
          <p:cNvSpPr txBox="1"/>
          <p:nvPr/>
        </p:nvSpPr>
        <p:spPr>
          <a:xfrm>
            <a:off x="4823927" y="5757173"/>
            <a:ext cx="228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8-bit check sum</a:t>
            </a:r>
          </a:p>
        </p:txBody>
      </p:sp>
    </p:spTree>
    <p:extLst>
      <p:ext uri="{BB962C8B-B14F-4D97-AF65-F5344CB8AC3E}">
        <p14:creationId xmlns:p14="http://schemas.microsoft.com/office/powerpoint/2010/main" val="259410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Specifications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891678"/>
              </p:ext>
            </p:extLst>
          </p:nvPr>
        </p:nvGraphicFramePr>
        <p:xfrm>
          <a:off x="1389549" y="1022790"/>
          <a:ext cx="9403375" cy="55188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4389">
                  <a:extLst>
                    <a:ext uri="{9D8B030D-6E8A-4147-A177-3AD203B41FA5}">
                      <a16:colId xmlns:a16="http://schemas.microsoft.com/office/drawing/2014/main" val="3176053596"/>
                    </a:ext>
                  </a:extLst>
                </a:gridCol>
                <a:gridCol w="4498986">
                  <a:extLst>
                    <a:ext uri="{9D8B030D-6E8A-4147-A177-3AD203B41FA5}">
                      <a16:colId xmlns:a16="http://schemas.microsoft.com/office/drawing/2014/main" val="3135704067"/>
                    </a:ext>
                  </a:extLst>
                </a:gridCol>
              </a:tblGrid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Criteria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749130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Operating Voltage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3.3V to 5.5V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034404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Serial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81091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Output Signal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Digital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802228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Temperature Range</a:t>
                      </a:r>
                      <a:endParaRPr lang="en-US" sz="2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</a:rPr>
                        <a:t>0°C to 50°C</a:t>
                      </a:r>
                      <a:endParaRPr lang="en-US" sz="2600" dirty="0"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926566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Temperature Accuracy</a:t>
                      </a:r>
                      <a:endParaRPr lang="en-US" sz="2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</a:rPr>
                        <a:t>±2°C</a:t>
                      </a:r>
                      <a:endParaRPr lang="en-US" sz="2600" dirty="0"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652296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Humidity Range</a:t>
                      </a:r>
                      <a:endParaRPr lang="en-US" sz="2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</a:rPr>
                        <a:t>20% to 90%</a:t>
                      </a:r>
                      <a:endParaRPr lang="en-US" sz="2600" dirty="0"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750360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Humidity Accuracy</a:t>
                      </a:r>
                      <a:endParaRPr lang="en-US" sz="2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</a:rPr>
                        <a:t>±5%</a:t>
                      </a:r>
                      <a:endParaRPr lang="en-US" sz="2600" dirty="0">
                        <a:latin typeface="Arial Rounded MT Bold" panose="020F07040305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655519"/>
                  </a:ext>
                </a:extLst>
              </a:tr>
              <a:tr h="613211"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Refresh Rate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600" dirty="0">
                          <a:latin typeface="Arial Rounded MT Bold" panose="020F0704030504030204" pitchFamily="34" charset="0"/>
                          <a:cs typeface="Times New Roman" panose="02020603050405020304" pitchFamily="18" charset="0"/>
                        </a:rPr>
                        <a:t>~ 2 seconds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98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771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Pinout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E6DE7E-DC3E-1A59-59EA-0C71C6D0561F}"/>
              </a:ext>
            </a:extLst>
          </p:cNvPr>
          <p:cNvGrpSpPr/>
          <p:nvPr/>
        </p:nvGrpSpPr>
        <p:grpSpPr>
          <a:xfrm>
            <a:off x="4697134" y="1034142"/>
            <a:ext cx="2284348" cy="5443211"/>
            <a:chOff x="4648302" y="838200"/>
            <a:chExt cx="2284348" cy="54432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CD1C02-8D14-DAF3-B060-05EDF090F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333" t="35539" r="13762" b="33114"/>
            <a:stretch/>
          </p:blipFill>
          <p:spPr>
            <a:xfrm rot="16200000">
              <a:off x="3235812" y="2323678"/>
              <a:ext cx="5061016" cy="20900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53D826-6353-D0BF-F678-26875DCBBDA3}"/>
                </a:ext>
              </a:extLst>
            </p:cNvPr>
            <p:cNvSpPr txBox="1"/>
            <p:nvPr/>
          </p:nvSpPr>
          <p:spPr>
            <a:xfrm>
              <a:off x="4648302" y="5819746"/>
              <a:ext cx="106203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 Rounded MT Bold" panose="020F0704030504030204" pitchFamily="34" charset="0"/>
                </a:rPr>
                <a:t>VCC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8D294C-127A-56F6-FF0E-6480ED079D57}"/>
                </a:ext>
              </a:extLst>
            </p:cNvPr>
            <p:cNvSpPr txBox="1"/>
            <p:nvPr/>
          </p:nvSpPr>
          <p:spPr>
            <a:xfrm>
              <a:off x="5739412" y="5819746"/>
              <a:ext cx="11932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Arial Rounded MT Bold" panose="020F0704030504030204" pitchFamily="34" charset="0"/>
                </a:rPr>
                <a:t>GND</a:t>
              </a:r>
              <a:endParaRPr lang="en-US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414CAE-D539-4079-AF0E-49091087FC4E}"/>
                </a:ext>
              </a:extLst>
            </p:cNvPr>
            <p:cNvSpPr txBox="1"/>
            <p:nvPr/>
          </p:nvSpPr>
          <p:spPr>
            <a:xfrm>
              <a:off x="5468674" y="5819194"/>
              <a:ext cx="5779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S</a:t>
              </a:r>
              <a:endParaRPr lang="en-US" sz="2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Installing Library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CB2CD-F0CE-6946-041E-882E9ADC4FCB}"/>
              </a:ext>
            </a:extLst>
          </p:cNvPr>
          <p:cNvSpPr/>
          <p:nvPr/>
        </p:nvSpPr>
        <p:spPr>
          <a:xfrm>
            <a:off x="751022" y="1007526"/>
            <a:ext cx="10517342" cy="560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Libraries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24BB8F-60B7-3131-C716-769B29FB83B2}"/>
              </a:ext>
            </a:extLst>
          </p:cNvPr>
          <p:cNvGrpSpPr/>
          <p:nvPr/>
        </p:nvGrpSpPr>
        <p:grpSpPr>
          <a:xfrm>
            <a:off x="2353303" y="1791459"/>
            <a:ext cx="7475868" cy="4999153"/>
            <a:chOff x="2353303" y="1791459"/>
            <a:chExt cx="7475868" cy="49991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0E8E90-9BB8-9AE8-9DEB-FDC64FB97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3303" y="1791459"/>
              <a:ext cx="7475868" cy="499915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1C7A873-11B8-A072-1632-FFCFDA112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0424" y="2824958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544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Installing Library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CB2CD-F0CE-6946-041E-882E9ADC4FCB}"/>
              </a:ext>
            </a:extLst>
          </p:cNvPr>
          <p:cNvSpPr/>
          <p:nvPr/>
        </p:nvSpPr>
        <p:spPr>
          <a:xfrm>
            <a:off x="751022" y="1007526"/>
            <a:ext cx="10517342" cy="560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DHT sensor library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Adafruit,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install it.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FFD2C1-5595-8CAC-E76C-1E7BF3E63D77}"/>
              </a:ext>
            </a:extLst>
          </p:cNvPr>
          <p:cNvGrpSpPr/>
          <p:nvPr/>
        </p:nvGrpSpPr>
        <p:grpSpPr>
          <a:xfrm>
            <a:off x="2353303" y="1763597"/>
            <a:ext cx="7475868" cy="4999153"/>
            <a:chOff x="2353303" y="1763597"/>
            <a:chExt cx="7475868" cy="499915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31F106-CE18-3901-C4B5-BDA5EB79AB57}"/>
                </a:ext>
              </a:extLst>
            </p:cNvPr>
            <p:cNvGrpSpPr/>
            <p:nvPr/>
          </p:nvGrpSpPr>
          <p:grpSpPr>
            <a:xfrm>
              <a:off x="2353303" y="1763597"/>
              <a:ext cx="7475868" cy="4999153"/>
              <a:chOff x="2353303" y="1763597"/>
              <a:chExt cx="7475868" cy="499915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0D7E92D-5AF7-00F9-780B-5E48909AB9ED}"/>
                  </a:ext>
                </a:extLst>
              </p:cNvPr>
              <p:cNvGrpSpPr/>
              <p:nvPr/>
            </p:nvGrpSpPr>
            <p:grpSpPr>
              <a:xfrm>
                <a:off x="2353303" y="1763597"/>
                <a:ext cx="7475868" cy="4999153"/>
                <a:chOff x="2353303" y="1763597"/>
                <a:chExt cx="7475868" cy="4999153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3448BE64-777C-7472-1E89-115A5225BD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353303" y="1763597"/>
                  <a:ext cx="7475868" cy="4999153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4FD5C6F5-5286-35B7-9B64-0910015A86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01043" y="3534082"/>
                  <a:ext cx="365760" cy="365760"/>
                </a:xfrm>
                <a:prstGeom prst="rect">
                  <a:avLst/>
                </a:prstGeom>
              </p:spPr>
            </p:pic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1CA6D8-94BE-2506-5E5A-5187DAACC417}"/>
                  </a:ext>
                </a:extLst>
              </p:cNvPr>
              <p:cNvSpPr/>
              <p:nvPr/>
            </p:nvSpPr>
            <p:spPr>
              <a:xfrm>
                <a:off x="4926563" y="2425959"/>
                <a:ext cx="914400" cy="279918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2E9A7A-2C13-A6C4-5049-96DC1DBA6362}"/>
                </a:ext>
              </a:extLst>
            </p:cNvPr>
            <p:cNvSpPr/>
            <p:nvPr/>
          </p:nvSpPr>
          <p:spPr>
            <a:xfrm>
              <a:off x="2457060" y="2911150"/>
              <a:ext cx="1005840" cy="20527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9857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Installing Library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CB2CD-F0CE-6946-041E-882E9ADC4FCB}"/>
              </a:ext>
            </a:extLst>
          </p:cNvPr>
          <p:cNvSpPr/>
          <p:nvPr/>
        </p:nvSpPr>
        <p:spPr>
          <a:xfrm>
            <a:off x="751022" y="1007526"/>
            <a:ext cx="10517342" cy="560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all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this message appears.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3E3766-D49D-6DD9-2B0C-A1FE44753EB6}"/>
              </a:ext>
            </a:extLst>
          </p:cNvPr>
          <p:cNvGrpSpPr/>
          <p:nvPr/>
        </p:nvGrpSpPr>
        <p:grpSpPr>
          <a:xfrm>
            <a:off x="2353303" y="1763597"/>
            <a:ext cx="7475868" cy="4999153"/>
            <a:chOff x="2353303" y="1763597"/>
            <a:chExt cx="7475868" cy="49991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6921F7-9AEA-8EE8-0C01-B8E3E56C5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3303" y="1763597"/>
              <a:ext cx="7475868" cy="499915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FB7EEA-CC92-8124-460B-E5CB728C1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6243" y="4989658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6106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Hardware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022" y="1007526"/>
            <a:ext cx="10517342" cy="2277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NodeMCU ESP8266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Jumpers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</a:t>
            </a:r>
          </a:p>
        </p:txBody>
      </p:sp>
    </p:spTree>
    <p:extLst>
      <p:ext uri="{BB962C8B-B14F-4D97-AF65-F5344CB8AC3E}">
        <p14:creationId xmlns:p14="http://schemas.microsoft.com/office/powerpoint/2010/main" val="4235097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NodeMCU ESP8266 Pinout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28AB7FE-2FFB-06EC-5E5D-8AF6E3195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58399"/>
              </p:ext>
            </p:extLst>
          </p:nvPr>
        </p:nvGraphicFramePr>
        <p:xfrm>
          <a:off x="776934" y="925510"/>
          <a:ext cx="7079442" cy="5700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278">
                  <a:extLst>
                    <a:ext uri="{9D8B030D-6E8A-4147-A177-3AD203B41FA5}">
                      <a16:colId xmlns:a16="http://schemas.microsoft.com/office/drawing/2014/main" val="531523576"/>
                    </a:ext>
                  </a:extLst>
                </a:gridCol>
                <a:gridCol w="1392168">
                  <a:extLst>
                    <a:ext uri="{9D8B030D-6E8A-4147-A177-3AD203B41FA5}">
                      <a16:colId xmlns:a16="http://schemas.microsoft.com/office/drawing/2014/main" val="464964026"/>
                    </a:ext>
                  </a:extLst>
                </a:gridCol>
                <a:gridCol w="4905996">
                  <a:extLst>
                    <a:ext uri="{9D8B030D-6E8A-4147-A177-3AD203B41FA5}">
                      <a16:colId xmlns:a16="http://schemas.microsoft.com/office/drawing/2014/main" val="3889208889"/>
                    </a:ext>
                  </a:extLst>
                </a:gridCol>
              </a:tblGrid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PIN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GPIO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Why Not Safe?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00430"/>
                  </a:ext>
                </a:extLst>
              </a:tr>
              <a:tr h="7898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GPIO16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HIGH at boot</a:t>
                      </a:r>
                    </a:p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Used to wake up from deep sleep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168833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140029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621640"/>
                  </a:ext>
                </a:extLst>
              </a:tr>
              <a:tr h="7438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Connected to FLASH button</a:t>
                      </a:r>
                    </a:p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Boot fails if pulled LOW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04810"/>
                  </a:ext>
                </a:extLst>
              </a:tr>
              <a:tr h="7438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HIGH at boot</a:t>
                      </a:r>
                    </a:p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Boot fails if pulled LOW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334729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GPIO14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860692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GPIO12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62728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D7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GPIO13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949472"/>
                  </a:ext>
                </a:extLst>
              </a:tr>
              <a:tr h="7438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GPIO15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Required for boot</a:t>
                      </a:r>
                    </a:p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Boot fails if pulled HIGH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402286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71F7117-E28A-5701-76EE-2702549734F0}"/>
              </a:ext>
            </a:extLst>
          </p:cNvPr>
          <p:cNvGrpSpPr/>
          <p:nvPr/>
        </p:nvGrpSpPr>
        <p:grpSpPr>
          <a:xfrm>
            <a:off x="8336507" y="1022591"/>
            <a:ext cx="3372936" cy="5486400"/>
            <a:chOff x="8336507" y="1022591"/>
            <a:chExt cx="3372936" cy="54864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092713-8060-D3F8-A52F-94835DA3E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36507" y="1951311"/>
              <a:ext cx="228600" cy="2286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D931C6-2B8B-CEEF-E1EB-12AF7E7DF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4788" y="3138902"/>
              <a:ext cx="210312" cy="2103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6D4A567-CAA0-C421-25CB-94013FBB5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8456" y="3365806"/>
              <a:ext cx="210312" cy="210312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5A9E1BD-18C6-234A-311B-D9422383F782}"/>
                </a:ext>
              </a:extLst>
            </p:cNvPr>
            <p:cNvGrpSpPr/>
            <p:nvPr/>
          </p:nvGrpSpPr>
          <p:grpSpPr>
            <a:xfrm>
              <a:off x="8351980" y="1022591"/>
              <a:ext cx="3357463" cy="5486400"/>
              <a:chOff x="8351980" y="1022591"/>
              <a:chExt cx="3357463" cy="548640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B66E1D2-B3FD-EC47-585F-E9E6FFDB5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80843" y="2186163"/>
                <a:ext cx="210312" cy="210312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E912CF6-A7BA-ED9A-F6E0-5F4FC280F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83950" y="2413211"/>
                <a:ext cx="210312" cy="210312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4B26957-CFA5-0FFB-F6AD-8ACEB4349520}"/>
                  </a:ext>
                </a:extLst>
              </p:cNvPr>
              <p:cNvGrpSpPr/>
              <p:nvPr/>
            </p:nvGrpSpPr>
            <p:grpSpPr>
              <a:xfrm>
                <a:off x="8351980" y="1022591"/>
                <a:ext cx="3357463" cy="5486400"/>
                <a:chOff x="8351980" y="1022591"/>
                <a:chExt cx="3357463" cy="5486400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00EE22B2-EB23-EE79-3ED3-B6D96322C4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89800" y="3612676"/>
                  <a:ext cx="210312" cy="210312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EC07C93C-BDFC-D4F8-975A-0F95516AD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86319" y="3841753"/>
                  <a:ext cx="210312" cy="210312"/>
                </a:xfrm>
                <a:prstGeom prst="rect">
                  <a:avLst/>
                </a:prstGeom>
              </p:spPr>
            </p:pic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069C4700-B254-4A66-FC3E-DC103CD0BD44}"/>
                    </a:ext>
                  </a:extLst>
                </p:cNvPr>
                <p:cNvGrpSpPr/>
                <p:nvPr/>
              </p:nvGrpSpPr>
              <p:grpSpPr>
                <a:xfrm>
                  <a:off x="8351980" y="1022591"/>
                  <a:ext cx="3357463" cy="5486400"/>
                  <a:chOff x="8351980" y="1022591"/>
                  <a:chExt cx="3357463" cy="5486400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A3C1CFE5-0B79-64C0-8E2D-D337463BBE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1471512" y="1951311"/>
                    <a:ext cx="228600" cy="228600"/>
                  </a:xfrm>
                  <a:prstGeom prst="rect">
                    <a:avLst/>
                  </a:prstGeom>
                </p:spPr>
              </p:pic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B4BEB118-1094-0010-4641-546AF5DFEC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1468704" y="2639355"/>
                    <a:ext cx="228600" cy="228600"/>
                  </a:xfrm>
                  <a:prstGeom prst="rect">
                    <a:avLst/>
                  </a:prstGeom>
                </p:spPr>
              </p:pic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D886376D-AD53-6408-F0A6-ED43BA6B7C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1480843" y="2880031"/>
                    <a:ext cx="228600" cy="228600"/>
                  </a:xfrm>
                  <a:prstGeom prst="rect">
                    <a:avLst/>
                  </a:prstGeom>
                </p:spPr>
              </p:pic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04FE2F55-EA62-9BDE-0ADC-3B56BF5671FA}"/>
                      </a:ext>
                    </a:extLst>
                  </p:cNvPr>
                  <p:cNvGrpSpPr/>
                  <p:nvPr/>
                </p:nvGrpSpPr>
                <p:grpSpPr>
                  <a:xfrm>
                    <a:off x="8351980" y="1022591"/>
                    <a:ext cx="3353608" cy="5486400"/>
                    <a:chOff x="8351980" y="1022591"/>
                    <a:chExt cx="3353608" cy="5486400"/>
                  </a:xfrm>
                </p:grpSpPr>
                <p:pic>
                  <p:nvPicPr>
                    <p:cNvPr id="23" name="Picture 22">
                      <a:extLst>
                        <a:ext uri="{FF2B5EF4-FFF2-40B4-BE49-F238E27FC236}">
                          <a16:creationId xmlns:a16="http://schemas.microsoft.com/office/drawing/2014/main" id="{CAFEEF50-DF88-44EC-9BB5-3B3614E34E3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11489427" y="4068801"/>
                      <a:ext cx="210312" cy="21031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4" name="Picture 23">
                      <a:extLst>
                        <a:ext uri="{FF2B5EF4-FFF2-40B4-BE49-F238E27FC236}">
                          <a16:creationId xmlns:a16="http://schemas.microsoft.com/office/drawing/2014/main" id="{D17791FA-B22F-B1D0-DAEB-053DEBC37A3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11476988" y="4296326"/>
                      <a:ext cx="228600" cy="22860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4121CE0E-E2C8-608C-5319-FF7030921B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51980" y="1022591"/>
                      <a:ext cx="3348132" cy="5486400"/>
                      <a:chOff x="8351980" y="1022591"/>
                      <a:chExt cx="3348132" cy="5486400"/>
                    </a:xfrm>
                  </p:grpSpPr>
                  <p:pic>
                    <p:nvPicPr>
                      <p:cNvPr id="26" name="Picture 25">
                        <a:extLst>
                          <a:ext uri="{FF2B5EF4-FFF2-40B4-BE49-F238E27FC236}">
                            <a16:creationId xmlns:a16="http://schemas.microsoft.com/office/drawing/2014/main" id="{EA946539-A7A4-49E8-8924-B50A9D93C0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5"/>
                      <a:srcRect l="27884" r="41970"/>
                      <a:stretch/>
                    </p:blipFill>
                    <p:spPr>
                      <a:xfrm>
                        <a:off x="8560447" y="1022591"/>
                        <a:ext cx="2934866" cy="5486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7" name="Picture 26">
                        <a:extLst>
                          <a:ext uri="{FF2B5EF4-FFF2-40B4-BE49-F238E27FC236}">
                            <a16:creationId xmlns:a16="http://schemas.microsoft.com/office/drawing/2014/main" id="{B7A3D0B6-45E8-FC19-F188-BB9614F44F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86132" y="4525395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8" name="Picture 27">
                        <a:extLst>
                          <a:ext uri="{FF2B5EF4-FFF2-40B4-BE49-F238E27FC236}">
                            <a16:creationId xmlns:a16="http://schemas.microsoft.com/office/drawing/2014/main" id="{88C012B2-ECE3-C48D-A7DA-CCDAEF5AD2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89800" y="4770961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9" name="Picture 28">
                        <a:extLst>
                          <a:ext uri="{FF2B5EF4-FFF2-40B4-BE49-F238E27FC236}">
                            <a16:creationId xmlns:a16="http://schemas.microsoft.com/office/drawing/2014/main" id="{933E3999-570A-1F8B-70FB-B88256E3716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1980" y="2684226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0" name="Picture 29">
                        <a:extLst>
                          <a:ext uri="{FF2B5EF4-FFF2-40B4-BE49-F238E27FC236}">
                            <a16:creationId xmlns:a16="http://schemas.microsoft.com/office/drawing/2014/main" id="{60CEC126-7110-F65C-EAF0-DDB34130D5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5648" y="2901799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1" name="Picture 30">
                        <a:extLst>
                          <a:ext uri="{FF2B5EF4-FFF2-40B4-BE49-F238E27FC236}">
                            <a16:creationId xmlns:a16="http://schemas.microsoft.com/office/drawing/2014/main" id="{6D2ACA47-D09F-025D-7811-1C5C4FC0BE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7596" y="3602909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2" name="Picture 31">
                        <a:extLst>
                          <a:ext uri="{FF2B5EF4-FFF2-40B4-BE49-F238E27FC236}">
                            <a16:creationId xmlns:a16="http://schemas.microsoft.com/office/drawing/2014/main" id="{E50A7B69-6039-1E09-B6E5-91B8E94BC02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1264" y="3848475"/>
                        <a:ext cx="210312" cy="210312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69029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Circuit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4E310-5ECC-1E32-0703-21DFAE16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74" y="1225270"/>
            <a:ext cx="10226926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38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breadboard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(+)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(-)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rails to NodeMCU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(GND)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39C1E-F3B3-55B3-C495-9F830BFAC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47" y="2286000"/>
            <a:ext cx="89431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60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596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30000"/>
              </a:lnSpc>
              <a:buFont typeface="+mj-lt"/>
              <a:buAutoNum type="arabicPeriod" startAt="2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DHT11 sensor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dirty="0">
                <a:solidFill>
                  <a:srgbClr val="4472C4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breadboard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96BCDB-7638-94C3-6DBC-DEA5B729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52" y="2286000"/>
            <a:ext cx="895656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1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596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30000"/>
              </a:lnSpc>
              <a:buFont typeface="+mj-lt"/>
              <a:buAutoNum type="arabicPeriod" startAt="3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sensor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to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NodeMCU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CF1EB2-6EE2-39E3-77A5-E6531C1C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84" y="2286000"/>
            <a:ext cx="893010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22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596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30000"/>
              </a:lnSpc>
              <a:buFont typeface="+mj-lt"/>
              <a:buAutoNum type="arabicPeriod" startAt="4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sensor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to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VCC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NodeMCU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F57DE8-DCEF-3657-4FDF-A241C74E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26" y="2286000"/>
            <a:ext cx="89234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79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596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Font typeface="+mj-lt"/>
              <a:buAutoNum type="arabicPeriod" startAt="5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up the sensor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analog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D5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NodeMCU.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EC8CAB-170A-9C28-2A24-915A4ADA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170" y="2240280"/>
            <a:ext cx="8968134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28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DHT11: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021" y="885846"/>
            <a:ext cx="10794433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"DHT.h"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                                       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// Import DHT library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DHT_PIN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D5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// Digital pin connected to the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DHT_PIN, DHT11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// Initialize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// Start serial monitor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    // Start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    // Wait a few seconds between measurements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h =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// Read humidity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t =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// Read temperature as Celsius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Check if any reads failed (to try later)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"Failed to read from DHT sensor."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Print temperature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"Temperature: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"°C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Print humidity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"Humidity: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"%"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117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EEABB3E-9DD6-16B4-69CE-89DCC3B29DF4}"/>
              </a:ext>
            </a:extLst>
          </p:cNvPr>
          <p:cNvGrpSpPr/>
          <p:nvPr/>
        </p:nvGrpSpPr>
        <p:grpSpPr>
          <a:xfrm>
            <a:off x="1188100" y="1087212"/>
            <a:ext cx="9806274" cy="5486400"/>
            <a:chOff x="982924" y="1031228"/>
            <a:chExt cx="9806274" cy="54864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B40C21-08AC-1968-0FE1-4E624DB78E56}"/>
                </a:ext>
              </a:extLst>
            </p:cNvPr>
            <p:cNvGrpSpPr/>
            <p:nvPr/>
          </p:nvGrpSpPr>
          <p:grpSpPr>
            <a:xfrm>
              <a:off x="982924" y="1031228"/>
              <a:ext cx="9806274" cy="5486400"/>
              <a:chOff x="709325" y="937923"/>
              <a:chExt cx="9806274" cy="5486400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FDBAD5B5-FE07-4A73-EE7C-5584716818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27884" r="41970"/>
              <a:stretch/>
            </p:blipFill>
            <p:spPr>
              <a:xfrm>
                <a:off x="7580733" y="937923"/>
                <a:ext cx="2934866" cy="548640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8F5F9CB1-D7D6-998B-08BE-59F85F988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325" y="1669443"/>
                <a:ext cx="4039076" cy="4023360"/>
              </a:xfrm>
              <a:prstGeom prst="rect">
                <a:avLst/>
              </a:prstGeom>
            </p:spPr>
          </p:pic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9531EDD-9474-6E3B-9651-B551FD4DB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411337" y="2755691"/>
              <a:ext cx="2037475" cy="2037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2670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022" y="1007526"/>
            <a:ext cx="10517342" cy="4721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part is to establish a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connection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Arduino/NodeMCU/ESP-32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will use the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PySerial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to be able to establish the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connection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easiest way to install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PySerial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by using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pip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&gt;&gt;</a:t>
            </a:r>
            <a:r>
              <a:rPr lang="en-US" sz="26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pip install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pyserial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need to know the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value of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be used later in the Python program.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183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9FC7C9-5E01-1DC8-65C8-B062909AC361}"/>
              </a:ext>
            </a:extLst>
          </p:cNvPr>
          <p:cNvGrpSpPr/>
          <p:nvPr/>
        </p:nvGrpSpPr>
        <p:grpSpPr>
          <a:xfrm>
            <a:off x="902927" y="1087212"/>
            <a:ext cx="10370476" cy="5486400"/>
            <a:chOff x="1024228" y="1087212"/>
            <a:chExt cx="10370476" cy="54864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BD917B-7194-9A60-D968-D7FE28289341}"/>
                </a:ext>
              </a:extLst>
            </p:cNvPr>
            <p:cNvGrpSpPr/>
            <p:nvPr/>
          </p:nvGrpSpPr>
          <p:grpSpPr>
            <a:xfrm>
              <a:off x="1024228" y="1087212"/>
              <a:ext cx="10370476" cy="5486400"/>
              <a:chOff x="1024228" y="1087212"/>
              <a:chExt cx="10370476" cy="54864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9B40C21-08AC-1968-0FE1-4E624DB78E56}"/>
                  </a:ext>
                </a:extLst>
              </p:cNvPr>
              <p:cNvGrpSpPr/>
              <p:nvPr/>
            </p:nvGrpSpPr>
            <p:grpSpPr>
              <a:xfrm>
                <a:off x="1024228" y="1087212"/>
                <a:ext cx="10370476" cy="5486400"/>
                <a:chOff x="545453" y="937923"/>
                <a:chExt cx="10370476" cy="5486400"/>
              </a:xfrm>
            </p:grpSpPr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FDBAD5B5-FE07-4A73-EE7C-5584716818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27884" r="41970"/>
                <a:stretch/>
              </p:blipFill>
              <p:spPr>
                <a:xfrm>
                  <a:off x="545453" y="937923"/>
                  <a:ext cx="2934866" cy="5486400"/>
                </a:xfrm>
                <a:prstGeom prst="rect">
                  <a:avLst/>
                </a:prstGeom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8F5F9CB1-D7D6-998B-08BE-59F85F9881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76853" y="1669443"/>
                  <a:ext cx="4039076" cy="4023360"/>
                </a:xfrm>
                <a:prstGeom prst="rect">
                  <a:avLst/>
                </a:prstGeom>
              </p:spPr>
            </p:pic>
          </p:grp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4611992-44BE-6C46-2E32-5781811E38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5542" y="2496134"/>
                <a:ext cx="2286000" cy="2286000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6760F6-D932-69A1-9F36-C6FF3AC54F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" r="-16863" b="21903"/>
            <a:stretch/>
          </p:blipFill>
          <p:spPr>
            <a:xfrm>
              <a:off x="3973180" y="4500018"/>
              <a:ext cx="1258144" cy="1855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8613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Communication: Installing PySerial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022" y="1007526"/>
            <a:ext cx="10517342" cy="264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connection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use the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PySerial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library, which allows communication with serial ports. </a:t>
            </a:r>
          </a:p>
          <a:p>
            <a:pPr lvl="1" algn="just">
              <a:lnSpc>
                <a:spcPct val="130000"/>
              </a:lnSpc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&gt;&gt;</a:t>
            </a:r>
            <a:r>
              <a:rPr lang="en-US" sz="26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pip install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pyserial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F4A72A-6FBC-6776-5C60-166DBE74F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552" y="3648698"/>
            <a:ext cx="8295370" cy="253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16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NodeMCU &amp; Python Serial Communication: Circuit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4E310-5ECC-1E32-0703-21DFAE16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74" y="1225270"/>
            <a:ext cx="10226926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6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Communication: NodeMCU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885846"/>
            <a:ext cx="10794433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"DHT.h"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                                       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// Import DHT library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DHT_PIN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D5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// Digital pin connected to the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DHT_PIN, DHT11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// Initialize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// Start serial monitor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    // Start DHT sensor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                 // Wait a few seconds between measurements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h =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 // Read humidity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t =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// Read temperature as Celsius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Check if any reads failed (to try later)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"Failed to read from DHT sensor."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Print temperature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"Temperature: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"°C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Print humidity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"Humidity: 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"%"</a:t>
            </a:r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24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Communication: Python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885846"/>
            <a:ext cx="10794433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Import the PySerial library for serial communication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Initialize serial communication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'COM5'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Check if there is data available in the input buffer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in_waiting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Read all bytes until a newline character is detected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Decode the bytes into a UTF-8 string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errors=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'ignore'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Remove whitespaces from the beginning and the end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Print data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Close the serial connection</a:t>
            </a:r>
            <a:endParaRPr lang="en-US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"Serial connection closed."</a:t>
            </a:r>
            <a:r>
              <a:rPr lang="en-US" sz="1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1210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NodeMCU &amp; Python Serial Communication: </a:t>
            </a:r>
            <a:r>
              <a:rPr lang="en-US" sz="3200" dirty="0">
                <a:solidFill>
                  <a:schemeClr val="bg1"/>
                </a:solidFill>
              </a:rPr>
              <a:t>Output</a:t>
            </a:r>
            <a:endParaRPr lang="it-IT"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F64DE-14D3-627C-2163-48B7CA2B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30" y="1063310"/>
            <a:ext cx="9587139" cy="549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18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Python &amp; NodeMCU Serial Communication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525721-AD81-3039-9142-844F39754101}"/>
              </a:ext>
            </a:extLst>
          </p:cNvPr>
          <p:cNvGrpSpPr/>
          <p:nvPr/>
        </p:nvGrpSpPr>
        <p:grpSpPr>
          <a:xfrm>
            <a:off x="758891" y="1087212"/>
            <a:ext cx="10720675" cy="5486400"/>
            <a:chOff x="758891" y="1087212"/>
            <a:chExt cx="10720675" cy="54864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37C2184-BE65-9575-FA6E-B59EF2729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6262" y="4051129"/>
              <a:ext cx="1828800" cy="252248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6F333D-6009-BD65-53B0-5CFEDB2EE4EE}"/>
                </a:ext>
              </a:extLst>
            </p:cNvPr>
            <p:cNvGrpSpPr/>
            <p:nvPr/>
          </p:nvGrpSpPr>
          <p:grpSpPr>
            <a:xfrm>
              <a:off x="758891" y="1087212"/>
              <a:ext cx="10720675" cy="5486400"/>
              <a:chOff x="758891" y="1087212"/>
              <a:chExt cx="10720675" cy="54864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BBAF191-315C-57CF-EF16-DED82DD4444B}"/>
                  </a:ext>
                </a:extLst>
              </p:cNvPr>
              <p:cNvGrpSpPr/>
              <p:nvPr/>
            </p:nvGrpSpPr>
            <p:grpSpPr>
              <a:xfrm>
                <a:off x="758891" y="1087212"/>
                <a:ext cx="10720675" cy="5486400"/>
                <a:chOff x="280116" y="937923"/>
                <a:chExt cx="10720675" cy="54864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EF7C4A8-B461-F017-E68B-3AD3FEC616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7884" r="41970"/>
                <a:stretch/>
              </p:blipFill>
              <p:spPr>
                <a:xfrm>
                  <a:off x="8065925" y="937923"/>
                  <a:ext cx="2934866" cy="54864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CF346AA5-6A3F-7CFA-42A3-A8197B645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0116" y="1669443"/>
                  <a:ext cx="4039076" cy="4023360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EB72A71-3008-B888-EED0-BAF8FD0C9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4867" y="2496134"/>
                <a:ext cx="2286000" cy="2286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4006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Python &amp; NodeMCU Serial Communicatio</a:t>
            </a:r>
            <a:r>
              <a:rPr lang="en-US" sz="3200" dirty="0">
                <a:solidFill>
                  <a:schemeClr val="bg1"/>
                </a:solidFill>
              </a:rPr>
              <a:t>n</a:t>
            </a:r>
            <a:r>
              <a:rPr lang="en-US" sz="3200">
                <a:solidFill>
                  <a:schemeClr val="bg1"/>
                </a:solidFill>
              </a:rPr>
              <a:t>: Circuit</a:t>
            </a:r>
            <a:endParaRPr lang="it-IT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AB9A6B-A9BE-6312-C7C9-DFA271B0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77" y="1234990"/>
            <a:ext cx="10150720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3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Python &amp; NodeMCU Serial Communication: Python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932501"/>
            <a:ext cx="1079443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Import the PySerial library for serial communication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serial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Initialize serial communication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ser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serial.Serial(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'COM5'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Get command from the user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cmd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'Enter the command: 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Send command to NodeMCU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ser.write(cmd.encode())</a:t>
            </a:r>
          </a:p>
          <a:p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Close the serial connection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ser.close()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"Serial connection closed."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897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Python &amp; NodeMCU Serial Communication: NodeMCU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932501"/>
            <a:ext cx="10794433" cy="5560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LED_PIN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D6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// Define LED pin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// Start serial monitor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OUTPUT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// Initialize the pin D6 as an output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Read the incoming byte if available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()){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// Check if there is a message available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cmd =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// Read the incoming byte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cmd == '1'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// If command is '1'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HIGH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// Turn on LED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cmd == '0'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// If command is '0'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LOW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// Turn off LED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21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Voice-Controlled Lamp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E1889C-3750-5451-E358-17103043F31E}"/>
              </a:ext>
            </a:extLst>
          </p:cNvPr>
          <p:cNvGrpSpPr/>
          <p:nvPr/>
        </p:nvGrpSpPr>
        <p:grpSpPr>
          <a:xfrm>
            <a:off x="758891" y="779302"/>
            <a:ext cx="10720675" cy="5794310"/>
            <a:chOff x="758891" y="779302"/>
            <a:chExt cx="10720675" cy="579431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55F4C15-46A0-118F-19F0-9BA9E6682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5142" y="779302"/>
              <a:ext cx="2425033" cy="2425033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18712E-7968-EEEE-FBA7-72B6A6298EE5}"/>
                </a:ext>
              </a:extLst>
            </p:cNvPr>
            <p:cNvGrpSpPr/>
            <p:nvPr/>
          </p:nvGrpSpPr>
          <p:grpSpPr>
            <a:xfrm>
              <a:off x="758891" y="1087212"/>
              <a:ext cx="10720675" cy="5486400"/>
              <a:chOff x="758891" y="1087212"/>
              <a:chExt cx="10720675" cy="54864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CD7285D-E174-97B9-0DC8-67EB2B7B2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26262" y="4051129"/>
                <a:ext cx="1828800" cy="2522483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ED1BEC-20F3-72DE-DBF2-671A09FEBC13}"/>
                  </a:ext>
                </a:extLst>
              </p:cNvPr>
              <p:cNvGrpSpPr/>
              <p:nvPr/>
            </p:nvGrpSpPr>
            <p:grpSpPr>
              <a:xfrm>
                <a:off x="758891" y="1087212"/>
                <a:ext cx="10720675" cy="5486400"/>
                <a:chOff x="758891" y="1087212"/>
                <a:chExt cx="10720675" cy="548640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6D9C1F28-BAFF-C44E-9780-D9C91989C1E5}"/>
                    </a:ext>
                  </a:extLst>
                </p:cNvPr>
                <p:cNvGrpSpPr/>
                <p:nvPr/>
              </p:nvGrpSpPr>
              <p:grpSpPr>
                <a:xfrm>
                  <a:off x="758891" y="1087212"/>
                  <a:ext cx="10720675" cy="5486400"/>
                  <a:chOff x="280116" y="937923"/>
                  <a:chExt cx="10720675" cy="5486400"/>
                </a:xfrm>
              </p:grpSpPr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id="{60D51069-D887-C014-8005-B4D8A0E29B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27884" r="41970"/>
                  <a:stretch/>
                </p:blipFill>
                <p:spPr>
                  <a:xfrm>
                    <a:off x="8065925" y="937923"/>
                    <a:ext cx="2934866" cy="5486400"/>
                  </a:xfrm>
                  <a:prstGeom prst="rect">
                    <a:avLst/>
                  </a:prstGeom>
                </p:spPr>
              </p:pic>
              <p:pic>
                <p:nvPicPr>
                  <p:cNvPr id="14" name="Picture 13">
                    <a:extLst>
                      <a:ext uri="{FF2B5EF4-FFF2-40B4-BE49-F238E27FC236}">
                        <a16:creationId xmlns:a16="http://schemas.microsoft.com/office/drawing/2014/main" id="{4C9299A1-E724-BFA8-EBD3-A45B1EF359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80116" y="1669443"/>
                    <a:ext cx="4039076" cy="402336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6591D980-DECE-E0DE-10A6-E9757BA59D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7465" y="2496134"/>
                  <a:ext cx="2286000" cy="228600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786198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Voice-Controlled Lamp: Installing SpeechRecognition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7B624-0CA4-8B28-67F5-72743C16C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459"/>
          <a:stretch/>
        </p:blipFill>
        <p:spPr>
          <a:xfrm>
            <a:off x="1969593" y="2781395"/>
            <a:ext cx="8243288" cy="39553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438064B-3B6F-0AF8-9E69-57DD9C56ADCC}"/>
              </a:ext>
            </a:extLst>
          </p:cNvPr>
          <p:cNvSpPr/>
          <p:nvPr/>
        </p:nvSpPr>
        <p:spPr>
          <a:xfrm>
            <a:off x="751022" y="1007526"/>
            <a:ext cx="10517342" cy="160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to text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you can use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SpeechRecognition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library, which provides an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to various speech recognition engines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30000"/>
              </a:lnSpc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&gt;&gt;</a:t>
            </a:r>
            <a:r>
              <a:rPr lang="en-US" sz="2600" dirty="0">
                <a:latin typeface="Consolas" panose="020B0609020204030204" pitchFamily="49" charset="0"/>
                <a:cs typeface="Times New Roman" panose="02020603050405020304" pitchFamily="18" charset="0"/>
              </a:rPr>
              <a:t> pip install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SpeechRecognition</a:t>
            </a:r>
          </a:p>
        </p:txBody>
      </p:sp>
    </p:spTree>
    <p:extLst>
      <p:ext uri="{BB962C8B-B14F-4D97-AF65-F5344CB8AC3E}">
        <p14:creationId xmlns:p14="http://schemas.microsoft.com/office/powerpoint/2010/main" val="2170612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Voice-Controlled Lamp: Installing PyAudio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8064B-3B6F-0AF8-9E69-57DD9C56ADCC}"/>
              </a:ext>
            </a:extLst>
          </p:cNvPr>
          <p:cNvSpPr/>
          <p:nvPr/>
        </p:nvSpPr>
        <p:spPr>
          <a:xfrm>
            <a:off x="751022" y="1007526"/>
            <a:ext cx="10517342" cy="1088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SpeechRecognition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relies on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PyAudio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</a:t>
            </a:r>
          </a:p>
          <a:p>
            <a:pPr lvl="1" algn="just">
              <a:lnSpc>
                <a:spcPct val="130000"/>
              </a:lnSpc>
            </a:pP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&gt;&gt;</a:t>
            </a:r>
            <a:r>
              <a:rPr lang="en-US" sz="2600" dirty="0">
                <a:latin typeface="Consolas" panose="020B0609020204030204" pitchFamily="49" charset="0"/>
                <a:cs typeface="Times New Roman" panose="02020603050405020304" pitchFamily="18" charset="0"/>
              </a:rPr>
              <a:t> pip install </a:t>
            </a:r>
            <a:r>
              <a:rPr lang="en-US" sz="26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pyaudio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E90D0-6A17-A682-42DB-ACE0123B60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06"/>
          <a:stretch/>
        </p:blipFill>
        <p:spPr>
          <a:xfrm>
            <a:off x="1427393" y="2347160"/>
            <a:ext cx="9327688" cy="419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45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Voice-Controlled Lamp: Python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848522"/>
            <a:ext cx="10794433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speech_recognition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sr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'COM5'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            </a:t>
            </a:r>
            <a:r>
              <a:rPr lang="en-US" sz="11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Initialize serial communication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recognizer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Recognizer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                   </a:t>
            </a:r>
            <a:r>
              <a:rPr lang="en-US" sz="11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Initialize the recognizer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Capture audio from the microphone for 2 seconds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Microphone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"Say something."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audio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recognizer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phrase_time_limit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Use Google Web Speech API to recognize the speech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'Processing voice ...'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recognizer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recognize_google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audio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language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-EG'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'You said: </a:t>
            </a:r>
            <a:r>
              <a:rPr lang="en-US" sz="11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1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Send command to NodeMCU</a:t>
            </a:r>
            <a:endParaRPr lang="en-US" sz="11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ar-EG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نور اللمبه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'1'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ar-EG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اطفي اللمبه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'0'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UnknownValueError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"Google Web Speech API could not understand audio."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RequestError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"Could not request results from Google Web Speech API."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5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Repeat? '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"Serial connection closed."</a:t>
            </a:r>
            <a:r>
              <a:rPr lang="en-US" sz="11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7120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Voice-Controlled Lamp: NodeMCU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8037B-1F6A-844A-F184-C793DE7FC7DC}"/>
              </a:ext>
            </a:extLst>
          </p:cNvPr>
          <p:cNvSpPr/>
          <p:nvPr/>
        </p:nvSpPr>
        <p:spPr>
          <a:xfrm>
            <a:off x="751021" y="932501"/>
            <a:ext cx="10794433" cy="5560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LED_PIN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D6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// Define LED pin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// Start serial monitor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OUTPUT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// Initialize the pin D6 as an output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  // Read the incoming byte if available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()){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// Check if there is a message available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cmd =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// Read the incoming byte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b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cmd == '1'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     // If command is '1'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HIGH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// Turn on LED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cmd == '0'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          // If command is '0'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LED_PIN, LOW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       // Turn off LED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863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784196"/>
            <a:chOff x="0" y="0"/>
            <a:chExt cx="9144000" cy="78419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742950"/>
            </a:xfrm>
            <a:prstGeom prst="rect">
              <a:avLst/>
            </a:prstGeom>
            <a:gradFill>
              <a:gsLst>
                <a:gs pos="0">
                  <a:srgbClr val="22568F"/>
                </a:gs>
                <a:gs pos="100000">
                  <a:srgbClr val="062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738477"/>
              <a:ext cx="9144000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5725" y="95250"/>
            <a:ext cx="1201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</a:rPr>
              <a:t>References and Tutorials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022" y="1007526"/>
            <a:ext cx="10517342" cy="4840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DHT11 Sensor Interfacing with NodeMCU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Interfacing of DHT11 Sensor With ESP8266 nodemcu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DHT11 Temperature &amp; Humidity sensor on NodeMCU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Interface DHT11 DHT22 with NodeMCU Using Web Server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ESP8266 DHT11/DHT22 Temperature and Humidity Web Server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pySerial Documentation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/ ESP8266 Arduino: Serial communication with Python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Raspberry Pi Arduino Serial Communication</a:t>
            </a:r>
            <a:endParaRPr lang="it-IT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Ultimate Guide To Speech Recognition With Python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Guide to Speech Recognition in Python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76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8032</TotalTime>
  <Words>2239</Words>
  <Application>Microsoft Office PowerPoint</Application>
  <PresentationFormat>Widescreen</PresentationFormat>
  <Paragraphs>330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Rounded MT Bold</vt:lpstr>
      <vt:lpstr>Calibri</vt:lpstr>
      <vt:lpstr>Calibri Light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Ghamry</dc:creator>
  <cp:lastModifiedBy>عبدالله  تامر محمد عبد الحميد الغمري</cp:lastModifiedBy>
  <cp:revision>2756</cp:revision>
  <dcterms:created xsi:type="dcterms:W3CDTF">2019-10-14T18:09:37Z</dcterms:created>
  <dcterms:modified xsi:type="dcterms:W3CDTF">2024-03-06T06:23:51Z</dcterms:modified>
</cp:coreProperties>
</file>